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256" r:id="rId5"/>
    <p:sldId id="289" r:id="rId6"/>
    <p:sldId id="291" r:id="rId7"/>
    <p:sldId id="290" r:id="rId8"/>
    <p:sldId id="292" r:id="rId9"/>
    <p:sldId id="293" r:id="rId10"/>
    <p:sldId id="294" r:id="rId11"/>
    <p:sldId id="295" r:id="rId12"/>
    <p:sldId id="258" r:id="rId13"/>
    <p:sldId id="299" r:id="rId14"/>
    <p:sldId id="286" r:id="rId15"/>
    <p:sldId id="301" r:id="rId16"/>
    <p:sldId id="296" r:id="rId17"/>
    <p:sldId id="300" r:id="rId18"/>
    <p:sldId id="29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3" autoAdjust="0"/>
    <p:restoredTop sz="94660"/>
  </p:normalViewPr>
  <p:slideViewPr>
    <p:cSldViewPr snapToGrid="0">
      <p:cViewPr varScale="1">
        <p:scale>
          <a:sx n="160" d="100"/>
          <a:sy n="160" d="100"/>
        </p:scale>
        <p:origin x="264" y="138"/>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7/13/2025</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7/13/2025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p:txBody>
          <a:bodyPr/>
          <a:lstStyle/>
          <a:p>
            <a:r>
              <a:rPr lang="en-US" dirty="0"/>
              <a:t>Analysis of Child Care Cost Data</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p:txBody>
          <a:bodyPr/>
          <a:lstStyle/>
          <a:p>
            <a:pPr marL="0" indent="0">
              <a:buNone/>
            </a:pPr>
            <a:r>
              <a:rPr lang="en-US" dirty="0"/>
              <a:t>Ryan Frank</a:t>
            </a:r>
          </a:p>
          <a:p>
            <a:pPr marL="0" indent="0">
              <a:buNone/>
            </a:pPr>
            <a:r>
              <a:rPr lang="en-US" dirty="0"/>
              <a:t>DSC640 Term Project</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02A2F9F-947B-A448-A2FA-E5A2841FE451}"/>
              </a:ext>
            </a:extLst>
          </p:cNvPr>
          <p:cNvSpPr>
            <a:spLocks noGrp="1"/>
          </p:cNvSpPr>
          <p:nvPr>
            <p:ph type="sldNum" sz="quarter" idx="12"/>
          </p:nvPr>
        </p:nvSpPr>
        <p:spPr/>
        <p:txBody>
          <a:bodyPr/>
          <a:lstStyle/>
          <a:p>
            <a:fld id="{C263D6C4-4840-40CC-AC84-17E24B3B7BDE}" type="slidenum">
              <a:rPr lang="en-US" noProof="0" smtClean="0"/>
              <a:pPr/>
              <a:t>2</a:t>
            </a:fld>
            <a:endParaRPr lang="en-US" noProof="0" dirty="0"/>
          </a:p>
        </p:txBody>
      </p:sp>
      <p:sp>
        <p:nvSpPr>
          <p:cNvPr id="5" name="Title 4">
            <a:extLst>
              <a:ext uri="{FF2B5EF4-FFF2-40B4-BE49-F238E27FC236}">
                <a16:creationId xmlns:a16="http://schemas.microsoft.com/office/drawing/2014/main" id="{D64E86D3-BD65-64D2-653F-E70E86DD5F24}"/>
              </a:ext>
            </a:extLst>
          </p:cNvPr>
          <p:cNvSpPr>
            <a:spLocks noGrp="1"/>
          </p:cNvSpPr>
          <p:nvPr>
            <p:ph type="title"/>
          </p:nvPr>
        </p:nvSpPr>
        <p:spPr/>
        <p:txBody>
          <a:bodyPr>
            <a:normAutofit fontScale="90000"/>
          </a:bodyPr>
          <a:lstStyle/>
          <a:p>
            <a:r>
              <a:rPr lang="en-US" dirty="0"/>
              <a:t>Medium 1:</a:t>
            </a:r>
            <a:br>
              <a:rPr lang="en-US" dirty="0"/>
            </a:br>
            <a:r>
              <a:rPr lang="en-US" dirty="0"/>
              <a:t>Interactive Tableau Dashboard</a:t>
            </a:r>
          </a:p>
        </p:txBody>
      </p:sp>
    </p:spTree>
    <p:extLst>
      <p:ext uri="{BB962C8B-B14F-4D97-AF65-F5344CB8AC3E}">
        <p14:creationId xmlns:p14="http://schemas.microsoft.com/office/powerpoint/2010/main" val="658613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6F95A-BA4A-CFB8-2432-612CAC244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E2CDBB-150C-4D31-AFA6-9D7DCACB78B7}"/>
              </a:ext>
            </a:extLst>
          </p:cNvPr>
          <p:cNvSpPr>
            <a:spLocks noGrp="1"/>
          </p:cNvSpPr>
          <p:nvPr>
            <p:ph type="title"/>
          </p:nvPr>
        </p:nvSpPr>
        <p:spPr/>
        <p:txBody>
          <a:bodyPr/>
          <a:lstStyle/>
          <a:p>
            <a:r>
              <a:rPr lang="en-US" dirty="0"/>
              <a:t>Initial View</a:t>
            </a:r>
          </a:p>
        </p:txBody>
      </p:sp>
      <p:sp>
        <p:nvSpPr>
          <p:cNvPr id="3" name="Slide Number Placeholder 2">
            <a:extLst>
              <a:ext uri="{FF2B5EF4-FFF2-40B4-BE49-F238E27FC236}">
                <a16:creationId xmlns:a16="http://schemas.microsoft.com/office/drawing/2014/main" id="{3FA3DF92-2EE8-DCA6-11F3-314E7D525365}"/>
              </a:ext>
            </a:extLst>
          </p:cNvPr>
          <p:cNvSpPr>
            <a:spLocks noGrp="1"/>
          </p:cNvSpPr>
          <p:nvPr>
            <p:ph type="sldNum" sz="quarter" idx="12"/>
          </p:nvPr>
        </p:nvSpPr>
        <p:spPr/>
        <p:txBody>
          <a:bodyPr/>
          <a:lstStyle/>
          <a:p>
            <a:fld id="{C263D6C4-4840-40CC-AC84-17E24B3B7BDE}" type="slidenum">
              <a:rPr lang="en-US" noProof="0" smtClean="0"/>
              <a:pPr/>
              <a:t>3</a:t>
            </a:fld>
            <a:endParaRPr lang="en-US" noProof="0" dirty="0"/>
          </a:p>
        </p:txBody>
      </p:sp>
      <p:pic>
        <p:nvPicPr>
          <p:cNvPr id="6" name="Picture 5">
            <a:extLst>
              <a:ext uri="{FF2B5EF4-FFF2-40B4-BE49-F238E27FC236}">
                <a16:creationId xmlns:a16="http://schemas.microsoft.com/office/drawing/2014/main" id="{F9CB0009-8208-5B2A-C9DB-638E9C618D6D}"/>
              </a:ext>
            </a:extLst>
          </p:cNvPr>
          <p:cNvPicPr>
            <a:picLocks noChangeAspect="1"/>
          </p:cNvPicPr>
          <p:nvPr/>
        </p:nvPicPr>
        <p:blipFill>
          <a:blip r:embed="rId2"/>
          <a:stretch>
            <a:fillRect/>
          </a:stretch>
        </p:blipFill>
        <p:spPr>
          <a:xfrm>
            <a:off x="269314" y="1078456"/>
            <a:ext cx="11564471" cy="5679360"/>
          </a:xfrm>
          <a:prstGeom prst="rect">
            <a:avLst/>
          </a:prstGeom>
        </p:spPr>
      </p:pic>
    </p:spTree>
    <p:extLst>
      <p:ext uri="{BB962C8B-B14F-4D97-AF65-F5344CB8AC3E}">
        <p14:creationId xmlns:p14="http://schemas.microsoft.com/office/powerpoint/2010/main" val="4275414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717CC-3DB3-D12B-F7CD-B36C5527796C}"/>
              </a:ext>
            </a:extLst>
          </p:cNvPr>
          <p:cNvSpPr>
            <a:spLocks noGrp="1"/>
          </p:cNvSpPr>
          <p:nvPr>
            <p:ph type="title"/>
          </p:nvPr>
        </p:nvSpPr>
        <p:spPr/>
        <p:txBody>
          <a:bodyPr/>
          <a:lstStyle/>
          <a:p>
            <a:r>
              <a:rPr lang="en-US" dirty="0"/>
              <a:t>Overview</a:t>
            </a:r>
          </a:p>
        </p:txBody>
      </p:sp>
      <p:sp>
        <p:nvSpPr>
          <p:cNvPr id="3" name="Slide Number Placeholder 2">
            <a:extLst>
              <a:ext uri="{FF2B5EF4-FFF2-40B4-BE49-F238E27FC236}">
                <a16:creationId xmlns:a16="http://schemas.microsoft.com/office/drawing/2014/main" id="{2AB0F05C-B7E9-8378-BC1B-20F3D6B3BE60}"/>
              </a:ext>
            </a:extLst>
          </p:cNvPr>
          <p:cNvSpPr>
            <a:spLocks noGrp="1"/>
          </p:cNvSpPr>
          <p:nvPr>
            <p:ph type="sldNum" sz="quarter" idx="12"/>
          </p:nvPr>
        </p:nvSpPr>
        <p:spPr/>
        <p:txBody>
          <a:bodyPr/>
          <a:lstStyle/>
          <a:p>
            <a:fld id="{C263D6C4-4840-40CC-AC84-17E24B3B7BDE}" type="slidenum">
              <a:rPr lang="en-US" noProof="0" smtClean="0"/>
              <a:pPr/>
              <a:t>4</a:t>
            </a:fld>
            <a:endParaRPr lang="en-US" noProof="0" dirty="0"/>
          </a:p>
        </p:txBody>
      </p:sp>
      <p:sp>
        <p:nvSpPr>
          <p:cNvPr id="4" name="Text Placeholder 3">
            <a:extLst>
              <a:ext uri="{FF2B5EF4-FFF2-40B4-BE49-F238E27FC236}">
                <a16:creationId xmlns:a16="http://schemas.microsoft.com/office/drawing/2014/main" id="{C83F6DB3-9C93-90D9-F848-7BF72A9369D3}"/>
              </a:ext>
            </a:extLst>
          </p:cNvPr>
          <p:cNvSpPr>
            <a:spLocks noGrp="1"/>
          </p:cNvSpPr>
          <p:nvPr>
            <p:ph type="body" sz="quarter" idx="13"/>
          </p:nvPr>
        </p:nvSpPr>
        <p:spPr>
          <a:xfrm>
            <a:off x="444500" y="1625385"/>
            <a:ext cx="7982324" cy="4936780"/>
          </a:xfrm>
        </p:spPr>
        <p:txBody>
          <a:bodyPr/>
          <a:lstStyle/>
          <a:p>
            <a:r>
              <a:rPr lang="en-US" dirty="0"/>
              <a:t>The top right contains a clickable map of the United States at the county level.  Counties are colored by the average percent that childcare (of all types and age groups) changed over the time frame of available data</a:t>
            </a:r>
          </a:p>
          <a:p>
            <a:r>
              <a:rPr lang="en-US" dirty="0"/>
              <a:t>Counties in white likely on had a single year of data, or incomplete data which made the calculation impossible</a:t>
            </a:r>
          </a:p>
          <a:p>
            <a:r>
              <a:rPr lang="en-US" dirty="0"/>
              <a:t>Clicking on a county updates the rest of the visualizations with the data for that county</a:t>
            </a:r>
          </a:p>
          <a:p>
            <a:r>
              <a:rPr lang="en-US" dirty="0"/>
              <a:t>The top right visualization represents the years the data we have covered (2008 – 2018) and colored to indicate if the selected county has data for that year (Blue for yes, Red for No)</a:t>
            </a:r>
          </a:p>
          <a:p>
            <a:r>
              <a:rPr lang="en-US" dirty="0"/>
              <a:t>The middle right is a color-coded box that shows the average yearly change in childcare cost for the selected county.</a:t>
            </a:r>
          </a:p>
          <a:p>
            <a:r>
              <a:rPr lang="en-US" dirty="0"/>
              <a:t>Below the map shows the color scale for the map based on the average yearly change in childcare cost</a:t>
            </a:r>
          </a:p>
          <a:p>
            <a:r>
              <a:rPr lang="en-US" dirty="0"/>
              <a:t>Finally, the bottom visualization are sets of bar graphs that show the actual cost of childcare, broken down by type of care (Center or Family based), age group, and year.</a:t>
            </a:r>
          </a:p>
        </p:txBody>
      </p:sp>
    </p:spTree>
    <p:extLst>
      <p:ext uri="{BB962C8B-B14F-4D97-AF65-F5344CB8AC3E}">
        <p14:creationId xmlns:p14="http://schemas.microsoft.com/office/powerpoint/2010/main" val="2787254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53F9F-B709-887A-EF2A-699F9FF5B7BE}"/>
              </a:ext>
            </a:extLst>
          </p:cNvPr>
          <p:cNvSpPr>
            <a:spLocks noGrp="1"/>
          </p:cNvSpPr>
          <p:nvPr>
            <p:ph type="title"/>
          </p:nvPr>
        </p:nvSpPr>
        <p:spPr/>
        <p:txBody>
          <a:bodyPr/>
          <a:lstStyle/>
          <a:p>
            <a:r>
              <a:rPr lang="en-US" dirty="0"/>
              <a:t>Points of Interest</a:t>
            </a:r>
          </a:p>
        </p:txBody>
      </p:sp>
      <p:sp>
        <p:nvSpPr>
          <p:cNvPr id="3" name="Slide Number Placeholder 2">
            <a:extLst>
              <a:ext uri="{FF2B5EF4-FFF2-40B4-BE49-F238E27FC236}">
                <a16:creationId xmlns:a16="http://schemas.microsoft.com/office/drawing/2014/main" id="{7245D63A-6ACC-C7B7-2CF6-26B1D4789501}"/>
              </a:ext>
            </a:extLst>
          </p:cNvPr>
          <p:cNvSpPr>
            <a:spLocks noGrp="1"/>
          </p:cNvSpPr>
          <p:nvPr>
            <p:ph type="sldNum" sz="quarter" idx="12"/>
          </p:nvPr>
        </p:nvSpPr>
        <p:spPr/>
        <p:txBody>
          <a:bodyPr/>
          <a:lstStyle/>
          <a:p>
            <a:fld id="{C263D6C4-4840-40CC-AC84-17E24B3B7BDE}" type="slidenum">
              <a:rPr lang="en-US" noProof="0" smtClean="0"/>
              <a:pPr/>
              <a:t>5</a:t>
            </a:fld>
            <a:endParaRPr lang="en-US" noProof="0" dirty="0"/>
          </a:p>
        </p:txBody>
      </p:sp>
      <p:sp>
        <p:nvSpPr>
          <p:cNvPr id="4" name="Text Placeholder 3">
            <a:extLst>
              <a:ext uri="{FF2B5EF4-FFF2-40B4-BE49-F238E27FC236}">
                <a16:creationId xmlns:a16="http://schemas.microsoft.com/office/drawing/2014/main" id="{330E44B8-5F03-349D-4D01-C6925596CF47}"/>
              </a:ext>
            </a:extLst>
          </p:cNvPr>
          <p:cNvSpPr>
            <a:spLocks noGrp="1"/>
          </p:cNvSpPr>
          <p:nvPr>
            <p:ph type="body" sz="quarter" idx="13"/>
          </p:nvPr>
        </p:nvSpPr>
        <p:spPr/>
        <p:txBody>
          <a:bodyPr/>
          <a:lstStyle/>
          <a:p>
            <a:r>
              <a:rPr lang="en-US" dirty="0"/>
              <a:t>While the overall stats in the data showed an increasing trend across the country, there are areas that actually saw a decrease in cost over time.  </a:t>
            </a:r>
          </a:p>
          <a:p>
            <a:r>
              <a:rPr lang="en-US" dirty="0"/>
              <a:t>There were also areas that show a much higher increase per year vs the rest of the country.  The initial view starts focusing on my home county of Fairfield CT which has a rather large 6% average increase per year from 2008-2018</a:t>
            </a:r>
          </a:p>
          <a:p>
            <a:r>
              <a:rPr lang="en-US" dirty="0"/>
              <a:t>Following slides show images when selecting some of the other unusual counties – in particular a county in Wyoming that saw a nearly 19% yearly increase in costs for 2014-2018, and a county in Idaho that had a nearly 7% decrease in cost per year from 2012-2018</a:t>
            </a:r>
          </a:p>
          <a:p>
            <a:r>
              <a:rPr lang="en-US" dirty="0"/>
              <a:t>These would be a good starting point at investigating local conditions that lead to these results</a:t>
            </a:r>
          </a:p>
        </p:txBody>
      </p:sp>
    </p:spTree>
    <p:extLst>
      <p:ext uri="{BB962C8B-B14F-4D97-AF65-F5344CB8AC3E}">
        <p14:creationId xmlns:p14="http://schemas.microsoft.com/office/powerpoint/2010/main" val="4235695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85F71-9811-2EA3-E1F9-4BD027DE6AA8}"/>
              </a:ext>
            </a:extLst>
          </p:cNvPr>
          <p:cNvSpPr>
            <a:spLocks noGrp="1"/>
          </p:cNvSpPr>
          <p:nvPr>
            <p:ph type="title"/>
          </p:nvPr>
        </p:nvSpPr>
        <p:spPr/>
        <p:txBody>
          <a:bodyPr/>
          <a:lstStyle/>
          <a:p>
            <a:r>
              <a:rPr lang="en-US" dirty="0"/>
              <a:t>Teton County, WY</a:t>
            </a:r>
          </a:p>
        </p:txBody>
      </p:sp>
      <p:sp>
        <p:nvSpPr>
          <p:cNvPr id="3" name="Slide Number Placeholder 2">
            <a:extLst>
              <a:ext uri="{FF2B5EF4-FFF2-40B4-BE49-F238E27FC236}">
                <a16:creationId xmlns:a16="http://schemas.microsoft.com/office/drawing/2014/main" id="{89DD5D4D-67BA-13DA-FFCF-0F9D2FDAD1D5}"/>
              </a:ext>
            </a:extLst>
          </p:cNvPr>
          <p:cNvSpPr>
            <a:spLocks noGrp="1"/>
          </p:cNvSpPr>
          <p:nvPr>
            <p:ph type="sldNum" sz="quarter" idx="12"/>
          </p:nvPr>
        </p:nvSpPr>
        <p:spPr/>
        <p:txBody>
          <a:bodyPr/>
          <a:lstStyle/>
          <a:p>
            <a:fld id="{C263D6C4-4840-40CC-AC84-17E24B3B7BDE}" type="slidenum">
              <a:rPr lang="en-US" noProof="0" smtClean="0"/>
              <a:pPr/>
              <a:t>6</a:t>
            </a:fld>
            <a:endParaRPr lang="en-US" noProof="0" dirty="0"/>
          </a:p>
        </p:txBody>
      </p:sp>
      <p:pic>
        <p:nvPicPr>
          <p:cNvPr id="6" name="Picture 5">
            <a:extLst>
              <a:ext uri="{FF2B5EF4-FFF2-40B4-BE49-F238E27FC236}">
                <a16:creationId xmlns:a16="http://schemas.microsoft.com/office/drawing/2014/main" id="{5BFCFE3A-6F70-BC20-2F37-4C53F277746B}"/>
              </a:ext>
            </a:extLst>
          </p:cNvPr>
          <p:cNvPicPr>
            <a:picLocks noChangeAspect="1"/>
          </p:cNvPicPr>
          <p:nvPr/>
        </p:nvPicPr>
        <p:blipFill>
          <a:blip r:embed="rId2"/>
          <a:stretch>
            <a:fillRect/>
          </a:stretch>
        </p:blipFill>
        <p:spPr>
          <a:xfrm>
            <a:off x="61320" y="1160059"/>
            <a:ext cx="11980460" cy="5640101"/>
          </a:xfrm>
          <a:prstGeom prst="rect">
            <a:avLst/>
          </a:prstGeom>
        </p:spPr>
      </p:pic>
    </p:spTree>
    <p:extLst>
      <p:ext uri="{BB962C8B-B14F-4D97-AF65-F5344CB8AC3E}">
        <p14:creationId xmlns:p14="http://schemas.microsoft.com/office/powerpoint/2010/main" val="1070960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BED05-C7EB-4FC1-02D9-8ED5863A7647}"/>
              </a:ext>
            </a:extLst>
          </p:cNvPr>
          <p:cNvSpPr>
            <a:spLocks noGrp="1"/>
          </p:cNvSpPr>
          <p:nvPr>
            <p:ph type="title"/>
          </p:nvPr>
        </p:nvSpPr>
        <p:spPr/>
        <p:txBody>
          <a:bodyPr/>
          <a:lstStyle/>
          <a:p>
            <a:r>
              <a:rPr lang="en-US" dirty="0"/>
              <a:t>Owyhee County, ID</a:t>
            </a:r>
          </a:p>
        </p:txBody>
      </p:sp>
      <p:sp>
        <p:nvSpPr>
          <p:cNvPr id="3" name="Slide Number Placeholder 2">
            <a:extLst>
              <a:ext uri="{FF2B5EF4-FFF2-40B4-BE49-F238E27FC236}">
                <a16:creationId xmlns:a16="http://schemas.microsoft.com/office/drawing/2014/main" id="{F150EEBC-575A-6CDA-1E5C-9C4A1969D3D9}"/>
              </a:ext>
            </a:extLst>
          </p:cNvPr>
          <p:cNvSpPr>
            <a:spLocks noGrp="1"/>
          </p:cNvSpPr>
          <p:nvPr>
            <p:ph type="sldNum" sz="quarter" idx="12"/>
          </p:nvPr>
        </p:nvSpPr>
        <p:spPr/>
        <p:txBody>
          <a:bodyPr/>
          <a:lstStyle/>
          <a:p>
            <a:fld id="{C263D6C4-4840-40CC-AC84-17E24B3B7BDE}" type="slidenum">
              <a:rPr lang="en-US" noProof="0" smtClean="0"/>
              <a:pPr/>
              <a:t>7</a:t>
            </a:fld>
            <a:endParaRPr lang="en-US" noProof="0" dirty="0"/>
          </a:p>
        </p:txBody>
      </p:sp>
      <p:pic>
        <p:nvPicPr>
          <p:cNvPr id="6" name="Picture 5">
            <a:extLst>
              <a:ext uri="{FF2B5EF4-FFF2-40B4-BE49-F238E27FC236}">
                <a16:creationId xmlns:a16="http://schemas.microsoft.com/office/drawing/2014/main" id="{97E34885-338B-E305-8DA5-3EB16939D6A4}"/>
              </a:ext>
            </a:extLst>
          </p:cNvPr>
          <p:cNvPicPr>
            <a:picLocks noChangeAspect="1"/>
          </p:cNvPicPr>
          <p:nvPr/>
        </p:nvPicPr>
        <p:blipFill>
          <a:blip r:embed="rId2"/>
          <a:stretch>
            <a:fillRect/>
          </a:stretch>
        </p:blipFill>
        <p:spPr>
          <a:xfrm>
            <a:off x="68239" y="1166883"/>
            <a:ext cx="12055522" cy="5649833"/>
          </a:xfrm>
          <a:prstGeom prst="rect">
            <a:avLst/>
          </a:prstGeom>
        </p:spPr>
      </p:pic>
    </p:spTree>
    <p:extLst>
      <p:ext uri="{BB962C8B-B14F-4D97-AF65-F5344CB8AC3E}">
        <p14:creationId xmlns:p14="http://schemas.microsoft.com/office/powerpoint/2010/main" val="1143348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FA4ED-A990-8D67-006E-0A8BE35C72EF}"/>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E2FAE281-BC33-BD92-C195-5D18706AB14C}"/>
              </a:ext>
            </a:extLst>
          </p:cNvPr>
          <p:cNvSpPr>
            <a:spLocks noGrp="1"/>
          </p:cNvSpPr>
          <p:nvPr>
            <p:ph type="sldNum" sz="quarter" idx="12"/>
          </p:nvPr>
        </p:nvSpPr>
        <p:spPr/>
        <p:txBody>
          <a:bodyPr/>
          <a:lstStyle/>
          <a:p>
            <a:fld id="{C263D6C4-4840-40CC-AC84-17E24B3B7BDE}" type="slidenum">
              <a:rPr lang="en-US" noProof="0" smtClean="0"/>
              <a:pPr/>
              <a:t>8</a:t>
            </a:fld>
            <a:endParaRPr lang="en-US" noProof="0" dirty="0"/>
          </a:p>
        </p:txBody>
      </p:sp>
      <p:sp>
        <p:nvSpPr>
          <p:cNvPr id="5" name="Title 4">
            <a:extLst>
              <a:ext uri="{FF2B5EF4-FFF2-40B4-BE49-F238E27FC236}">
                <a16:creationId xmlns:a16="http://schemas.microsoft.com/office/drawing/2014/main" id="{749E00F3-5B42-222B-91F1-F1AA22BD0B24}"/>
              </a:ext>
            </a:extLst>
          </p:cNvPr>
          <p:cNvSpPr>
            <a:spLocks noGrp="1"/>
          </p:cNvSpPr>
          <p:nvPr>
            <p:ph type="title"/>
          </p:nvPr>
        </p:nvSpPr>
        <p:spPr/>
        <p:txBody>
          <a:bodyPr>
            <a:normAutofit fontScale="90000"/>
          </a:bodyPr>
          <a:lstStyle/>
          <a:p>
            <a:r>
              <a:rPr lang="en-US" dirty="0"/>
              <a:t>Medium 2: </a:t>
            </a:r>
            <a:br>
              <a:rPr lang="en-US" dirty="0"/>
            </a:br>
            <a:r>
              <a:rPr lang="en-US" dirty="0"/>
              <a:t>Power Point Deck</a:t>
            </a:r>
          </a:p>
        </p:txBody>
      </p:sp>
    </p:spTree>
    <p:extLst>
      <p:ext uri="{BB962C8B-B14F-4D97-AF65-F5344CB8AC3E}">
        <p14:creationId xmlns:p14="http://schemas.microsoft.com/office/powerpoint/2010/main" val="209904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p:txBody>
          <a:bodyPr/>
          <a:lstStyle/>
          <a:p>
            <a:r>
              <a:rPr lang="en-US" dirty="0"/>
              <a:t>Data Cleaning and Organization</a:t>
            </a: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p:txBody>
          <a:bodyPr/>
          <a:lstStyle/>
          <a:p>
            <a:r>
              <a:rPr lang="en-US" dirty="0"/>
              <a:t>Dashboard</a:t>
            </a:r>
          </a:p>
          <a:p>
            <a:pPr lvl="1"/>
            <a:r>
              <a:rPr lang="en-US" dirty="0"/>
              <a:t>I used a combination of the original dataset connected to Tableau and a dataset I created using Python and then exported back to a text file that Tableau could connect to</a:t>
            </a:r>
          </a:p>
          <a:p>
            <a:pPr lvl="1"/>
            <a:r>
              <a:rPr lang="en-US" dirty="0"/>
              <a:t>The avgYearData.csv is the file I produced in python, using the libraries pandas and </a:t>
            </a:r>
            <a:r>
              <a:rPr lang="en-US" dirty="0" err="1"/>
              <a:t>duckdb</a:t>
            </a:r>
            <a:r>
              <a:rPr lang="en-US" dirty="0"/>
              <a:t> which allows for SQL like queries to be executed against pandas data frames</a:t>
            </a:r>
          </a:p>
          <a:p>
            <a:pPr lvl="1"/>
            <a:endParaRPr lang="en-US" dirty="0"/>
          </a:p>
          <a:p>
            <a:pPr lvl="1"/>
            <a:endParaRPr lang="en-US" dirty="0"/>
          </a:p>
          <a:p>
            <a:endParaRPr lang="en-US" dirty="0"/>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9</a:t>
            </a:fld>
            <a:endParaRPr lang="en-US" dirty="0"/>
          </a:p>
        </p:txBody>
      </p:sp>
      <p:pic>
        <p:nvPicPr>
          <p:cNvPr id="4" name="Picture 3">
            <a:extLst>
              <a:ext uri="{FF2B5EF4-FFF2-40B4-BE49-F238E27FC236}">
                <a16:creationId xmlns:a16="http://schemas.microsoft.com/office/drawing/2014/main" id="{A301B3F1-D292-1CFB-FAD3-CE7D9D336E37}"/>
              </a:ext>
            </a:extLst>
          </p:cNvPr>
          <p:cNvPicPr>
            <a:picLocks noChangeAspect="1"/>
          </p:cNvPicPr>
          <p:nvPr/>
        </p:nvPicPr>
        <p:blipFill>
          <a:blip r:embed="rId2"/>
          <a:stretch>
            <a:fillRect/>
          </a:stretch>
        </p:blipFill>
        <p:spPr>
          <a:xfrm>
            <a:off x="6998447" y="1987158"/>
            <a:ext cx="5022102" cy="1485357"/>
          </a:xfrm>
          <a:prstGeom prst="rect">
            <a:avLst/>
          </a:prstGeom>
        </p:spPr>
      </p:pic>
      <p:pic>
        <p:nvPicPr>
          <p:cNvPr id="6" name="Picture 5">
            <a:extLst>
              <a:ext uri="{FF2B5EF4-FFF2-40B4-BE49-F238E27FC236}">
                <a16:creationId xmlns:a16="http://schemas.microsoft.com/office/drawing/2014/main" id="{1141183B-FC27-43AD-5A5F-1FA9762B635A}"/>
              </a:ext>
            </a:extLst>
          </p:cNvPr>
          <p:cNvPicPr>
            <a:picLocks noChangeAspect="1"/>
          </p:cNvPicPr>
          <p:nvPr/>
        </p:nvPicPr>
        <p:blipFill>
          <a:blip r:embed="rId3"/>
          <a:stretch>
            <a:fillRect/>
          </a:stretch>
        </p:blipFill>
        <p:spPr>
          <a:xfrm>
            <a:off x="1089633" y="3672006"/>
            <a:ext cx="5668028" cy="2950907"/>
          </a:xfrm>
          <a:prstGeom prst="rect">
            <a:avLst/>
          </a:prstGeom>
        </p:spPr>
      </p:pic>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A9EC8-632D-159D-5DDF-2664F4047F27}"/>
              </a:ext>
            </a:extLst>
          </p:cNvPr>
          <p:cNvSpPr>
            <a:spLocks noGrp="1"/>
          </p:cNvSpPr>
          <p:nvPr>
            <p:ph type="title"/>
          </p:nvPr>
        </p:nvSpPr>
        <p:spPr/>
        <p:txBody>
          <a:bodyPr/>
          <a:lstStyle/>
          <a:p>
            <a:r>
              <a:rPr lang="en-US" dirty="0"/>
              <a:t>Data Cleaning and Organization (cont.)</a:t>
            </a:r>
          </a:p>
        </p:txBody>
      </p:sp>
      <p:sp>
        <p:nvSpPr>
          <p:cNvPr id="3" name="Slide Number Placeholder 2">
            <a:extLst>
              <a:ext uri="{FF2B5EF4-FFF2-40B4-BE49-F238E27FC236}">
                <a16:creationId xmlns:a16="http://schemas.microsoft.com/office/drawing/2014/main" id="{71C0DC10-31D7-6CDF-70BD-B880BF863601}"/>
              </a:ext>
            </a:extLst>
          </p:cNvPr>
          <p:cNvSpPr>
            <a:spLocks noGrp="1"/>
          </p:cNvSpPr>
          <p:nvPr>
            <p:ph type="sldNum" sz="quarter" idx="12"/>
          </p:nvPr>
        </p:nvSpPr>
        <p:spPr/>
        <p:txBody>
          <a:bodyPr/>
          <a:lstStyle/>
          <a:p>
            <a:fld id="{C263D6C4-4840-40CC-AC84-17E24B3B7BDE}" type="slidenum">
              <a:rPr lang="en-US" noProof="0" smtClean="0"/>
              <a:pPr/>
              <a:t>10</a:t>
            </a:fld>
            <a:endParaRPr lang="en-US" noProof="0" dirty="0"/>
          </a:p>
        </p:txBody>
      </p:sp>
      <p:sp>
        <p:nvSpPr>
          <p:cNvPr id="4" name="Text Placeholder 3">
            <a:extLst>
              <a:ext uri="{FF2B5EF4-FFF2-40B4-BE49-F238E27FC236}">
                <a16:creationId xmlns:a16="http://schemas.microsoft.com/office/drawing/2014/main" id="{D99854C0-E658-9709-A51F-84F697CBDC31}"/>
              </a:ext>
            </a:extLst>
          </p:cNvPr>
          <p:cNvSpPr>
            <a:spLocks noGrp="1"/>
          </p:cNvSpPr>
          <p:nvPr>
            <p:ph type="body" sz="quarter" idx="13"/>
          </p:nvPr>
        </p:nvSpPr>
        <p:spPr/>
        <p:txBody>
          <a:bodyPr/>
          <a:lstStyle/>
          <a:p>
            <a:r>
              <a:rPr lang="en-US" dirty="0"/>
              <a:t>Infographic</a:t>
            </a:r>
          </a:p>
          <a:p>
            <a:pPr lvl="1"/>
            <a:r>
              <a:rPr lang="en-US" dirty="0"/>
              <a:t>Data for the infographic was focused more on national trends, and we produced by loading the provided dataset into a pandas data frame and getting national averages on year slices</a:t>
            </a:r>
          </a:p>
          <a:p>
            <a:pPr lvl="1"/>
            <a:endParaRPr lang="en-US" dirty="0"/>
          </a:p>
        </p:txBody>
      </p:sp>
      <p:pic>
        <p:nvPicPr>
          <p:cNvPr id="6" name="Picture 5">
            <a:extLst>
              <a:ext uri="{FF2B5EF4-FFF2-40B4-BE49-F238E27FC236}">
                <a16:creationId xmlns:a16="http://schemas.microsoft.com/office/drawing/2014/main" id="{B9451FBC-1AC4-07A8-E834-CEA7B8632791}"/>
              </a:ext>
            </a:extLst>
          </p:cNvPr>
          <p:cNvPicPr>
            <a:picLocks noChangeAspect="1"/>
          </p:cNvPicPr>
          <p:nvPr/>
        </p:nvPicPr>
        <p:blipFill>
          <a:blip r:embed="rId2"/>
          <a:stretch>
            <a:fillRect/>
          </a:stretch>
        </p:blipFill>
        <p:spPr>
          <a:xfrm>
            <a:off x="4394508" y="3048000"/>
            <a:ext cx="6200775" cy="3267075"/>
          </a:xfrm>
          <a:prstGeom prst="rect">
            <a:avLst/>
          </a:prstGeom>
        </p:spPr>
      </p:pic>
    </p:spTree>
    <p:extLst>
      <p:ext uri="{BB962C8B-B14F-4D97-AF65-F5344CB8AC3E}">
        <p14:creationId xmlns:p14="http://schemas.microsoft.com/office/powerpoint/2010/main" val="20189096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7DB0E-1F82-C490-326D-D7F3CEE4FFA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D3A7C054-B48A-A7C8-3E22-AA71CE3E847F}"/>
              </a:ext>
            </a:extLst>
          </p:cNvPr>
          <p:cNvSpPr>
            <a:spLocks noGrp="1"/>
          </p:cNvSpPr>
          <p:nvPr>
            <p:ph type="title"/>
          </p:nvPr>
        </p:nvSpPr>
        <p:spPr/>
        <p:txBody>
          <a:bodyPr/>
          <a:lstStyle/>
          <a:p>
            <a:r>
              <a:rPr lang="en-US" dirty="0"/>
              <a:t>Audience</a:t>
            </a:r>
          </a:p>
        </p:txBody>
      </p:sp>
      <p:sp>
        <p:nvSpPr>
          <p:cNvPr id="10" name="Text Placeholder 9">
            <a:extLst>
              <a:ext uri="{FF2B5EF4-FFF2-40B4-BE49-F238E27FC236}">
                <a16:creationId xmlns:a16="http://schemas.microsoft.com/office/drawing/2014/main" id="{0126CABB-FD39-C96B-C205-6E24ADE009FA}"/>
              </a:ext>
            </a:extLst>
          </p:cNvPr>
          <p:cNvSpPr>
            <a:spLocks noGrp="1"/>
          </p:cNvSpPr>
          <p:nvPr>
            <p:ph type="body" sz="quarter" idx="13"/>
          </p:nvPr>
        </p:nvSpPr>
        <p:spPr/>
        <p:txBody>
          <a:bodyPr/>
          <a:lstStyle/>
          <a:p>
            <a:endParaRPr lang="en-US" dirty="0"/>
          </a:p>
          <a:p>
            <a:endParaRPr lang="en-US" dirty="0"/>
          </a:p>
        </p:txBody>
      </p:sp>
      <p:sp>
        <p:nvSpPr>
          <p:cNvPr id="2" name="Slide Number Placeholder 1">
            <a:extLst>
              <a:ext uri="{FF2B5EF4-FFF2-40B4-BE49-F238E27FC236}">
                <a16:creationId xmlns:a16="http://schemas.microsoft.com/office/drawing/2014/main" id="{7F6B0521-D99C-9265-FFE8-C56011440AB4}"/>
              </a:ext>
            </a:extLst>
          </p:cNvPr>
          <p:cNvSpPr>
            <a:spLocks noGrp="1"/>
          </p:cNvSpPr>
          <p:nvPr>
            <p:ph type="sldNum" sz="quarter" idx="12"/>
          </p:nvPr>
        </p:nvSpPr>
        <p:spPr/>
        <p:txBody>
          <a:bodyPr/>
          <a:lstStyle/>
          <a:p>
            <a:fld id="{C263D6C4-4840-40CC-AC84-17E24B3B7BDE}" type="slidenum">
              <a:rPr lang="en-US" smtClean="0"/>
              <a:pPr/>
              <a:t>11</a:t>
            </a:fld>
            <a:endParaRPr lang="en-US" dirty="0"/>
          </a:p>
        </p:txBody>
      </p:sp>
      <p:sp>
        <p:nvSpPr>
          <p:cNvPr id="3" name="Text Placeholder 9">
            <a:extLst>
              <a:ext uri="{FF2B5EF4-FFF2-40B4-BE49-F238E27FC236}">
                <a16:creationId xmlns:a16="http://schemas.microsoft.com/office/drawing/2014/main" id="{4322F2C8-44CF-F00C-CBAB-B996553D9B6F}"/>
              </a:ext>
            </a:extLst>
          </p:cNvPr>
          <p:cNvSpPr txBox="1">
            <a:spLocks/>
          </p:cNvSpPr>
          <p:nvPr/>
        </p:nvSpPr>
        <p:spPr>
          <a:xfrm>
            <a:off x="596900" y="1777785"/>
            <a:ext cx="6718300" cy="4093243"/>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2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Dashboard</a:t>
            </a:r>
          </a:p>
          <a:p>
            <a:pPr lvl="1"/>
            <a:r>
              <a:rPr lang="en-US" dirty="0"/>
              <a:t>Targeting individuals who want to see local cost for childcare</a:t>
            </a:r>
          </a:p>
          <a:p>
            <a:pPr lvl="1"/>
            <a:r>
              <a:rPr lang="en-US" dirty="0"/>
              <a:t>Could also be used to find unusual data for further investigation</a:t>
            </a:r>
          </a:p>
          <a:p>
            <a:r>
              <a:rPr lang="en-US" dirty="0"/>
              <a:t>Infographic</a:t>
            </a:r>
          </a:p>
          <a:p>
            <a:pPr lvl="1"/>
            <a:r>
              <a:rPr lang="en-US" dirty="0"/>
              <a:t>National trends, provide information on overall trends in the US and push towards getting local information and try to improve trends</a:t>
            </a:r>
          </a:p>
          <a:p>
            <a:r>
              <a:rPr lang="en-US" dirty="0"/>
              <a:t>Power Point</a:t>
            </a:r>
          </a:p>
          <a:p>
            <a:pPr lvl="1"/>
            <a:r>
              <a:rPr lang="en-US" dirty="0"/>
              <a:t>This slide desk is meant to be an explanation of how the data was explored and would be of interest to anyone is a similar field or was interesting in how the visualizations were produced</a:t>
            </a:r>
          </a:p>
          <a:p>
            <a:pPr lvl="1"/>
            <a:endParaRPr lang="en-US" dirty="0"/>
          </a:p>
        </p:txBody>
      </p:sp>
    </p:spTree>
    <p:extLst>
      <p:ext uri="{BB962C8B-B14F-4D97-AF65-F5344CB8AC3E}">
        <p14:creationId xmlns:p14="http://schemas.microsoft.com/office/powerpoint/2010/main" val="38078065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903D3-F03F-DC96-5FBE-EE0EDFFB76DB}"/>
              </a:ext>
            </a:extLst>
          </p:cNvPr>
          <p:cNvSpPr>
            <a:spLocks noGrp="1"/>
          </p:cNvSpPr>
          <p:nvPr>
            <p:ph type="title"/>
          </p:nvPr>
        </p:nvSpPr>
        <p:spPr/>
        <p:txBody>
          <a:bodyPr/>
          <a:lstStyle/>
          <a:p>
            <a:r>
              <a:rPr lang="en-US" dirty="0"/>
              <a:t>Results</a:t>
            </a:r>
          </a:p>
        </p:txBody>
      </p:sp>
      <p:sp>
        <p:nvSpPr>
          <p:cNvPr id="3" name="Slide Number Placeholder 2">
            <a:extLst>
              <a:ext uri="{FF2B5EF4-FFF2-40B4-BE49-F238E27FC236}">
                <a16:creationId xmlns:a16="http://schemas.microsoft.com/office/drawing/2014/main" id="{2918F6C6-5FEC-B6E6-01E0-D26EF715DA52}"/>
              </a:ext>
            </a:extLst>
          </p:cNvPr>
          <p:cNvSpPr>
            <a:spLocks noGrp="1"/>
          </p:cNvSpPr>
          <p:nvPr>
            <p:ph type="sldNum" sz="quarter" idx="12"/>
          </p:nvPr>
        </p:nvSpPr>
        <p:spPr/>
        <p:txBody>
          <a:bodyPr/>
          <a:lstStyle/>
          <a:p>
            <a:fld id="{C263D6C4-4840-40CC-AC84-17E24B3B7BDE}" type="slidenum">
              <a:rPr lang="en-US" noProof="0" smtClean="0"/>
              <a:pPr/>
              <a:t>12</a:t>
            </a:fld>
            <a:endParaRPr lang="en-US" noProof="0" dirty="0"/>
          </a:p>
        </p:txBody>
      </p:sp>
      <p:sp>
        <p:nvSpPr>
          <p:cNvPr id="4" name="Text Placeholder 3">
            <a:extLst>
              <a:ext uri="{FF2B5EF4-FFF2-40B4-BE49-F238E27FC236}">
                <a16:creationId xmlns:a16="http://schemas.microsoft.com/office/drawing/2014/main" id="{FD73DCFB-F5A1-6F8A-DBD4-E12EC96AEF5E}"/>
              </a:ext>
            </a:extLst>
          </p:cNvPr>
          <p:cNvSpPr>
            <a:spLocks noGrp="1"/>
          </p:cNvSpPr>
          <p:nvPr>
            <p:ph type="body" sz="quarter" idx="13"/>
          </p:nvPr>
        </p:nvSpPr>
        <p:spPr/>
        <p:txBody>
          <a:bodyPr/>
          <a:lstStyle/>
          <a:p>
            <a:r>
              <a:rPr lang="en-US" dirty="0"/>
              <a:t>Infographic</a:t>
            </a:r>
          </a:p>
          <a:p>
            <a:pPr lvl="1"/>
            <a:r>
              <a:rPr lang="en-US" dirty="0"/>
              <a:t>High level finds show that care costs increased between 20 – 26 % of the 10 year period (or an average of 2 – 2.6% per year) depending on type and age group.</a:t>
            </a:r>
          </a:p>
          <a:p>
            <a:pPr lvl="1"/>
            <a:r>
              <a:rPr lang="en-US" dirty="0"/>
              <a:t>Median Household income only increased by 18% (or 1.8% per year) in the same period.</a:t>
            </a:r>
          </a:p>
          <a:p>
            <a:pPr lvl="1"/>
            <a:r>
              <a:rPr lang="en-US" dirty="0"/>
              <a:t>Any type of care outpaced the median income increases</a:t>
            </a:r>
          </a:p>
          <a:p>
            <a:r>
              <a:rPr lang="en-US" dirty="0"/>
              <a:t>Dashboard</a:t>
            </a:r>
          </a:p>
          <a:p>
            <a:pPr lvl="1"/>
            <a:r>
              <a:rPr lang="en-US" dirty="0"/>
              <a:t>National Trends are also seen here, although more granular data view is provided.  There are actually places where costs went down, so there may be something worth looking into to see if it can be emulated elsewhere</a:t>
            </a:r>
          </a:p>
          <a:p>
            <a:pPr lvl="1"/>
            <a:r>
              <a:rPr lang="en-US" dirty="0"/>
              <a:t>There are also example of extremely high increases in cost, and should also be examined as a possible negative example</a:t>
            </a:r>
          </a:p>
        </p:txBody>
      </p:sp>
    </p:spTree>
    <p:extLst>
      <p:ext uri="{BB962C8B-B14F-4D97-AF65-F5344CB8AC3E}">
        <p14:creationId xmlns:p14="http://schemas.microsoft.com/office/powerpoint/2010/main" val="3750118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419E7-3259-7786-80A9-1768773265F7}"/>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4E27172-CF3A-9C4A-373E-1A987795D9E1}"/>
              </a:ext>
            </a:extLst>
          </p:cNvPr>
          <p:cNvSpPr>
            <a:spLocks noGrp="1"/>
          </p:cNvSpPr>
          <p:nvPr>
            <p:ph type="sldNum" sz="quarter" idx="12"/>
          </p:nvPr>
        </p:nvSpPr>
        <p:spPr/>
        <p:txBody>
          <a:bodyPr/>
          <a:lstStyle/>
          <a:p>
            <a:fld id="{C263D6C4-4840-40CC-AC84-17E24B3B7BDE}" type="slidenum">
              <a:rPr lang="en-US" noProof="0" smtClean="0"/>
              <a:pPr/>
              <a:t>13</a:t>
            </a:fld>
            <a:endParaRPr lang="en-US" noProof="0" dirty="0"/>
          </a:p>
        </p:txBody>
      </p:sp>
      <p:sp>
        <p:nvSpPr>
          <p:cNvPr id="5" name="Title 4">
            <a:extLst>
              <a:ext uri="{FF2B5EF4-FFF2-40B4-BE49-F238E27FC236}">
                <a16:creationId xmlns:a16="http://schemas.microsoft.com/office/drawing/2014/main" id="{6661BF15-8953-145B-1508-FB7B4B92DF8D}"/>
              </a:ext>
            </a:extLst>
          </p:cNvPr>
          <p:cNvSpPr>
            <a:spLocks noGrp="1"/>
          </p:cNvSpPr>
          <p:nvPr>
            <p:ph type="title"/>
          </p:nvPr>
        </p:nvSpPr>
        <p:spPr/>
        <p:txBody>
          <a:bodyPr>
            <a:normAutofit fontScale="90000"/>
          </a:bodyPr>
          <a:lstStyle/>
          <a:p>
            <a:r>
              <a:rPr lang="en-US" dirty="0"/>
              <a:t>Medium 3:</a:t>
            </a:r>
            <a:br>
              <a:rPr lang="en-US" dirty="0"/>
            </a:br>
            <a:r>
              <a:rPr lang="en-US" dirty="0"/>
              <a:t>Infographic</a:t>
            </a:r>
          </a:p>
        </p:txBody>
      </p:sp>
    </p:spTree>
    <p:extLst>
      <p:ext uri="{BB962C8B-B14F-4D97-AF65-F5344CB8AC3E}">
        <p14:creationId xmlns:p14="http://schemas.microsoft.com/office/powerpoint/2010/main" val="4097589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6AC01-CAA7-AAFB-A105-33FA3482A749}"/>
              </a:ext>
            </a:extLst>
          </p:cNvPr>
          <p:cNvSpPr>
            <a:spLocks noGrp="1"/>
          </p:cNvSpPr>
          <p:nvPr>
            <p:ph type="title"/>
          </p:nvPr>
        </p:nvSpPr>
        <p:spPr/>
        <p:txBody>
          <a:bodyPr/>
          <a:lstStyle/>
          <a:p>
            <a:r>
              <a:rPr lang="en-US" dirty="0"/>
              <a:t>Infographic</a:t>
            </a:r>
          </a:p>
        </p:txBody>
      </p:sp>
      <p:sp>
        <p:nvSpPr>
          <p:cNvPr id="3" name="Slide Number Placeholder 2">
            <a:extLst>
              <a:ext uri="{FF2B5EF4-FFF2-40B4-BE49-F238E27FC236}">
                <a16:creationId xmlns:a16="http://schemas.microsoft.com/office/drawing/2014/main" id="{7F84A8AD-FBFD-6747-71C4-1AE7BA500469}"/>
              </a:ext>
            </a:extLst>
          </p:cNvPr>
          <p:cNvSpPr>
            <a:spLocks noGrp="1"/>
          </p:cNvSpPr>
          <p:nvPr>
            <p:ph type="sldNum" sz="quarter" idx="12"/>
          </p:nvPr>
        </p:nvSpPr>
        <p:spPr/>
        <p:txBody>
          <a:bodyPr/>
          <a:lstStyle/>
          <a:p>
            <a:fld id="{C263D6C4-4840-40CC-AC84-17E24B3B7BDE}" type="slidenum">
              <a:rPr lang="en-US" noProof="0" smtClean="0"/>
              <a:pPr/>
              <a:t>14</a:t>
            </a:fld>
            <a:endParaRPr lang="en-US" noProof="0" dirty="0"/>
          </a:p>
        </p:txBody>
      </p:sp>
      <p:pic>
        <p:nvPicPr>
          <p:cNvPr id="6" name="Picture 5" descr="A child crying in front of a grey background&#10;&#10;AI-generated content may be incorrect.">
            <a:extLst>
              <a:ext uri="{FF2B5EF4-FFF2-40B4-BE49-F238E27FC236}">
                <a16:creationId xmlns:a16="http://schemas.microsoft.com/office/drawing/2014/main" id="{0440822C-4F20-18D9-7BEC-73C0263EA9DD}"/>
              </a:ext>
            </a:extLst>
          </p:cNvPr>
          <p:cNvPicPr>
            <a:picLocks noChangeAspect="1"/>
          </p:cNvPicPr>
          <p:nvPr/>
        </p:nvPicPr>
        <p:blipFill>
          <a:blip r:embed="rId2"/>
          <a:stretch>
            <a:fillRect/>
          </a:stretch>
        </p:blipFill>
        <p:spPr>
          <a:xfrm>
            <a:off x="586673" y="1188757"/>
            <a:ext cx="3751807" cy="5304118"/>
          </a:xfrm>
          <a:prstGeom prst="rect">
            <a:avLst/>
          </a:prstGeom>
        </p:spPr>
      </p:pic>
      <p:pic>
        <p:nvPicPr>
          <p:cNvPr id="8" name="Picture 7" descr="A child and a person holding a computer&#10;&#10;AI-generated content may be incorrect.">
            <a:extLst>
              <a:ext uri="{FF2B5EF4-FFF2-40B4-BE49-F238E27FC236}">
                <a16:creationId xmlns:a16="http://schemas.microsoft.com/office/drawing/2014/main" id="{E4DC4A8B-3A82-071A-8134-E01F7C35269C}"/>
              </a:ext>
            </a:extLst>
          </p:cNvPr>
          <p:cNvPicPr>
            <a:picLocks noChangeAspect="1"/>
          </p:cNvPicPr>
          <p:nvPr/>
        </p:nvPicPr>
        <p:blipFill>
          <a:blip r:embed="rId3"/>
          <a:stretch>
            <a:fillRect/>
          </a:stretch>
        </p:blipFill>
        <p:spPr>
          <a:xfrm>
            <a:off x="8744126" y="1188757"/>
            <a:ext cx="2658976" cy="3886790"/>
          </a:xfrm>
          <a:prstGeom prst="rect">
            <a:avLst/>
          </a:prstGeom>
        </p:spPr>
      </p:pic>
      <p:pic>
        <p:nvPicPr>
          <p:cNvPr id="10" name="Picture 9" descr="A close-up of a child's desk&#10;&#10;AI-generated content may be incorrect.">
            <a:extLst>
              <a:ext uri="{FF2B5EF4-FFF2-40B4-BE49-F238E27FC236}">
                <a16:creationId xmlns:a16="http://schemas.microsoft.com/office/drawing/2014/main" id="{60268F95-5BA5-DCC1-10E3-0FA25146E28E}"/>
              </a:ext>
            </a:extLst>
          </p:cNvPr>
          <p:cNvPicPr>
            <a:picLocks noChangeAspect="1"/>
          </p:cNvPicPr>
          <p:nvPr/>
        </p:nvPicPr>
        <p:blipFill>
          <a:blip r:embed="rId4"/>
          <a:stretch>
            <a:fillRect/>
          </a:stretch>
        </p:blipFill>
        <p:spPr>
          <a:xfrm>
            <a:off x="4338480" y="2959316"/>
            <a:ext cx="4405646" cy="2116231"/>
          </a:xfrm>
          <a:prstGeom prst="rect">
            <a:avLst/>
          </a:prstGeom>
        </p:spPr>
      </p:pic>
      <p:pic>
        <p:nvPicPr>
          <p:cNvPr id="12" name="Picture 11" descr="A person in a green field&#10;&#10;AI-generated content may be incorrect.">
            <a:extLst>
              <a:ext uri="{FF2B5EF4-FFF2-40B4-BE49-F238E27FC236}">
                <a16:creationId xmlns:a16="http://schemas.microsoft.com/office/drawing/2014/main" id="{A31B2323-C0DC-6729-FDEB-0991F55E78C5}"/>
              </a:ext>
            </a:extLst>
          </p:cNvPr>
          <p:cNvPicPr>
            <a:picLocks noChangeAspect="1"/>
          </p:cNvPicPr>
          <p:nvPr/>
        </p:nvPicPr>
        <p:blipFill>
          <a:blip r:embed="rId5"/>
          <a:stretch>
            <a:fillRect/>
          </a:stretch>
        </p:blipFill>
        <p:spPr>
          <a:xfrm>
            <a:off x="4338480" y="1188758"/>
            <a:ext cx="4405646" cy="1770558"/>
          </a:xfrm>
          <a:prstGeom prst="rect">
            <a:avLst/>
          </a:prstGeom>
        </p:spPr>
      </p:pic>
      <p:pic>
        <p:nvPicPr>
          <p:cNvPr id="14" name="Picture 13" descr="A close-up of a pair of measuring tape&#10;&#10;AI-generated content may be incorrect.">
            <a:extLst>
              <a:ext uri="{FF2B5EF4-FFF2-40B4-BE49-F238E27FC236}">
                <a16:creationId xmlns:a16="http://schemas.microsoft.com/office/drawing/2014/main" id="{CA6CD1CC-28CA-BEB4-F28D-EF883BE3D031}"/>
              </a:ext>
            </a:extLst>
          </p:cNvPr>
          <p:cNvPicPr>
            <a:picLocks noChangeAspect="1"/>
          </p:cNvPicPr>
          <p:nvPr/>
        </p:nvPicPr>
        <p:blipFill>
          <a:blip r:embed="rId6"/>
          <a:stretch>
            <a:fillRect/>
          </a:stretch>
        </p:blipFill>
        <p:spPr>
          <a:xfrm>
            <a:off x="4338480" y="5075547"/>
            <a:ext cx="7064622" cy="1417328"/>
          </a:xfrm>
          <a:prstGeom prst="rect">
            <a:avLst/>
          </a:prstGeom>
        </p:spPr>
      </p:pic>
    </p:spTree>
    <p:extLst>
      <p:ext uri="{BB962C8B-B14F-4D97-AF65-F5344CB8AC3E}">
        <p14:creationId xmlns:p14="http://schemas.microsoft.com/office/powerpoint/2010/main" val="5124482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01435-55ED-5D85-F8D4-99B8EDB1AE6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58E818E-33A9-53D9-C40F-E181C8822AD9}"/>
              </a:ext>
            </a:extLst>
          </p:cNvPr>
          <p:cNvSpPr>
            <a:spLocks noGrp="1"/>
          </p:cNvSpPr>
          <p:nvPr>
            <p:ph type="title"/>
          </p:nvPr>
        </p:nvSpPr>
        <p:spPr/>
        <p:txBody>
          <a:bodyPr/>
          <a:lstStyle/>
          <a:p>
            <a:r>
              <a:rPr lang="en-US" dirty="0"/>
              <a:t>Other Files Included</a:t>
            </a:r>
          </a:p>
        </p:txBody>
      </p:sp>
      <p:sp>
        <p:nvSpPr>
          <p:cNvPr id="2" name="Slide Number Placeholder 1">
            <a:extLst>
              <a:ext uri="{FF2B5EF4-FFF2-40B4-BE49-F238E27FC236}">
                <a16:creationId xmlns:a16="http://schemas.microsoft.com/office/drawing/2014/main" id="{C33FF6A6-3E23-781B-8281-8BCAECEA9F67}"/>
              </a:ext>
            </a:extLst>
          </p:cNvPr>
          <p:cNvSpPr>
            <a:spLocks noGrp="1"/>
          </p:cNvSpPr>
          <p:nvPr>
            <p:ph type="sldNum" sz="quarter" idx="12"/>
          </p:nvPr>
        </p:nvSpPr>
        <p:spPr/>
        <p:txBody>
          <a:bodyPr/>
          <a:lstStyle/>
          <a:p>
            <a:fld id="{C263D6C4-4840-40CC-AC84-17E24B3B7BDE}" type="slidenum">
              <a:rPr lang="en-US" smtClean="0"/>
              <a:pPr/>
              <a:t>15</a:t>
            </a:fld>
            <a:endParaRPr lang="en-US" dirty="0"/>
          </a:p>
        </p:txBody>
      </p:sp>
      <p:sp>
        <p:nvSpPr>
          <p:cNvPr id="3" name="Text Placeholder 9">
            <a:extLst>
              <a:ext uri="{FF2B5EF4-FFF2-40B4-BE49-F238E27FC236}">
                <a16:creationId xmlns:a16="http://schemas.microsoft.com/office/drawing/2014/main" id="{3234B43E-F61A-010F-5AF1-A20F1E27B512}"/>
              </a:ext>
            </a:extLst>
          </p:cNvPr>
          <p:cNvSpPr txBox="1">
            <a:spLocks/>
          </p:cNvSpPr>
          <p:nvPr/>
        </p:nvSpPr>
        <p:spPr>
          <a:xfrm>
            <a:off x="596900" y="1777785"/>
            <a:ext cx="6718300" cy="4093243"/>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600" kern="1200">
                <a:solidFill>
                  <a:schemeClr val="bg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400" kern="1200">
                <a:solidFill>
                  <a:schemeClr val="bg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600"/>
              </a:spcBef>
              <a:spcAft>
                <a:spcPts val="400"/>
              </a:spcAft>
              <a:buClr>
                <a:schemeClr val="accent2"/>
              </a:buClr>
              <a:buFont typeface="Arial" panose="020B0604020202020204" pitchFamily="34" charset="0"/>
              <a:buChar char="•"/>
              <a:defRPr sz="1200" kern="1200">
                <a:solidFill>
                  <a:schemeClr val="bg1"/>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4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Frank640 - Project </a:t>
            </a:r>
            <a:r>
              <a:rPr lang="en-US" dirty="0" err="1"/>
              <a:t>Dashboard.twb</a:t>
            </a:r>
            <a:endParaRPr lang="en-US" dirty="0"/>
          </a:p>
          <a:p>
            <a:pPr lvl="1"/>
            <a:r>
              <a:rPr lang="en-US" dirty="0"/>
              <a:t>Workbook containing </a:t>
            </a:r>
            <a:r>
              <a:rPr lang="en-US"/>
              <a:t>Interactive Dashboard</a:t>
            </a:r>
            <a:endParaRPr lang="en-US" dirty="0"/>
          </a:p>
          <a:p>
            <a:r>
              <a:rPr lang="en-US" dirty="0"/>
              <a:t>Frank640 Project Infographic </a:t>
            </a:r>
            <a:r>
              <a:rPr lang="en-US" dirty="0" err="1"/>
              <a:t>Data.ipynb</a:t>
            </a:r>
            <a:endParaRPr lang="en-US" dirty="0"/>
          </a:p>
          <a:p>
            <a:r>
              <a:rPr lang="en-US" dirty="0"/>
              <a:t>Frank640 - Project Data </a:t>
            </a:r>
            <a:r>
              <a:rPr lang="en-US" dirty="0" err="1"/>
              <a:t>Source.ipynb</a:t>
            </a:r>
            <a:endParaRPr lang="en-US" dirty="0"/>
          </a:p>
          <a:p>
            <a:pPr lvl="1"/>
            <a:r>
              <a:rPr lang="en-US" dirty="0"/>
              <a:t>Notebook code used in data processing</a:t>
            </a:r>
          </a:p>
          <a:p>
            <a:r>
              <a:rPr lang="en-US" dirty="0"/>
              <a:t>Frank640 - Project Final Paper.docx</a:t>
            </a:r>
          </a:p>
          <a:p>
            <a:pPr lvl="1"/>
            <a:r>
              <a:rPr lang="en-US" dirty="0"/>
              <a:t>Final paper</a:t>
            </a:r>
          </a:p>
        </p:txBody>
      </p:sp>
    </p:spTree>
    <p:extLst>
      <p:ext uri="{BB962C8B-B14F-4D97-AF65-F5344CB8AC3E}">
        <p14:creationId xmlns:p14="http://schemas.microsoft.com/office/powerpoint/2010/main" val="291807471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40575</TotalTime>
  <Words>749</Words>
  <Application>Microsoft Office PowerPoint</Application>
  <PresentationFormat>Widescreen</PresentationFormat>
  <Paragraphs>69</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Trade Gothic LT Pro</vt:lpstr>
      <vt:lpstr>Trebuchet MS</vt:lpstr>
      <vt:lpstr>Office Theme</vt:lpstr>
      <vt:lpstr>Analysis of Child Care Cost Data</vt:lpstr>
      <vt:lpstr>Medium 1: Interactive Tableau Dashboard</vt:lpstr>
      <vt:lpstr>Initial View</vt:lpstr>
      <vt:lpstr>Overview</vt:lpstr>
      <vt:lpstr>Points of Interest</vt:lpstr>
      <vt:lpstr>Teton County, WY</vt:lpstr>
      <vt:lpstr>Owyhee County, ID</vt:lpstr>
      <vt:lpstr>Medium 2:  Power Point Deck</vt:lpstr>
      <vt:lpstr>Data Cleaning and Organization</vt:lpstr>
      <vt:lpstr>Data Cleaning and Organization (cont.)</vt:lpstr>
      <vt:lpstr>Audience</vt:lpstr>
      <vt:lpstr>Results</vt:lpstr>
      <vt:lpstr>Medium 3: Infographic</vt:lpstr>
      <vt:lpstr>Infographic</vt:lpstr>
      <vt:lpstr>Other Files Included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Ryan Frank</dc:creator>
  <cp:lastModifiedBy>Ryan Frank</cp:lastModifiedBy>
  <cp:revision>5</cp:revision>
  <dcterms:created xsi:type="dcterms:W3CDTF">2025-07-13T22:06:50Z</dcterms:created>
  <dcterms:modified xsi:type="dcterms:W3CDTF">2025-08-11T02:22:25Z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