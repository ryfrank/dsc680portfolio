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  <p:sldId id="260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25D0E4-2F69-4161-B149-6EC4F0467452}" v="8" dt="2023-10-30T00:11:25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167EE-D6EE-3B1B-ABA7-F700446A4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A69B3-4C7D-81CE-B5C9-D292F2927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F48D2-2693-C1EB-EAB9-251D69D3B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3B4F-BAF7-4208-AA2E-2D4ECFDD9047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4EB86-1598-DF40-51B7-45F7E98E6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C71CB-27A5-2A92-BFB8-72C93FE7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BD6B-ED9E-4166-9E18-CB679A5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93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C5087-3A55-B098-27AC-1F73A5F4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511AE-D539-1783-FC10-07FFA7C6C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4713A-9B8F-3090-0166-CC805839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3B4F-BAF7-4208-AA2E-2D4ECFDD9047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EF857-C31F-9C6B-77A1-D70B67C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FF232-163F-666B-3596-052B0F03B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BD6B-ED9E-4166-9E18-CB679A5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0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7435-053A-2295-BE2F-FF5282A25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89EB1-C693-44CA-6886-688D8A96A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D0E6-97B1-CF96-8153-36D82BBD4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3B4F-BAF7-4208-AA2E-2D4ECFDD9047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4ABC6-0923-D544-2BAB-5F5FBCAC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AC9F0-D815-9E56-71A9-2E2C0295F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BD6B-ED9E-4166-9E18-CB679A5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34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567C-1178-42C1-479F-CEEFF2F5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67EA1-9D11-6F3C-1959-E95D8CDA1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B334D-92C0-E549-F84A-9C2C5045F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24609-43FF-9907-806C-6B288B8FA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3B4F-BAF7-4208-AA2E-2D4ECFDD9047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9CDA2-1A86-F170-7BFB-196DF591F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5E90E-4BD2-02A1-B658-F5D86FA5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BD6B-ED9E-4166-9E18-CB679A5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7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C51A6-DC2E-7AF2-C367-94283B5A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9DB92-E770-F981-B251-1494CD699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07D95-72A6-AF05-29A8-D30BC0DC8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DB0CA4-B760-8866-7202-6F77DDA1E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3FDC4-BCA0-173E-313F-E129850974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6DA44-8988-897C-60FE-40917D3FB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3B4F-BAF7-4208-AA2E-2D4ECFDD9047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5DECC-CD8A-CFFD-DD97-39985B5C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966FEF-626C-714F-8663-BB7358396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BD6B-ED9E-4166-9E18-CB679A5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50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AE9C1-6BAE-DD9D-CF1D-5F42A378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92A2E-A05A-2A99-B5FE-78BC8BC71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3B4F-BAF7-4208-AA2E-2D4ECFDD9047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3F9EB-7348-DF23-2FA9-5294283C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0DB3D-9014-3F9A-9AE2-BC0167BF2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BD6B-ED9E-4166-9E18-CB679A5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12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0BABC-5FF3-D08C-56C2-62C0BA0F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3B4F-BAF7-4208-AA2E-2D4ECFDD9047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2FDF08-C7B2-FAA4-7489-2EC5BCBF8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39E47-289F-F995-3062-5B84ED06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BD6B-ED9E-4166-9E18-CB679A5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67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66E0A-798B-82CD-97E9-51D83EDD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143E1-6F87-C40A-90A3-141304681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25F1D-DC45-9AC9-616F-7C29F46EE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45E8F-9765-1440-433B-775B6BBE1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3B4F-BAF7-4208-AA2E-2D4ECFDD9047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663DB-DE0D-ABF3-B584-83EEB3F0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C10BC-7978-68B4-2095-FB5FD820B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BD6B-ED9E-4166-9E18-CB679A5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1580-BDBE-1B46-5B4B-B85E49F38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5536E1-0ECD-385E-AF24-659715285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99296-F204-DC80-EB48-E973E4E36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818EC-9504-B916-57AC-6F33D5ECD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3B4F-BAF7-4208-AA2E-2D4ECFDD9047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6AC9F-6CD3-F384-DC9C-F54052858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2CEA3-13A6-74D9-73BB-36126B0B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BD6B-ED9E-4166-9E18-CB679A5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4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04AEE-D8BE-4030-7E14-CAB219F6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96E147-5182-6D4C-115A-024F9F04F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09665-43D7-B41D-57AB-B7B1ADC7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3B4F-BAF7-4208-AA2E-2D4ECFDD9047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9CF4-0894-0EBD-8B8B-505F4BF41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DF83B-99F3-2F3F-3A91-BD735F6C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BD6B-ED9E-4166-9E18-CB679A5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32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BE6C8C-04E3-817D-DEAE-21B2728853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285E5E-398B-39F4-26F0-04AF13C3B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84362-C02B-4F6C-F80A-D20EFD6D7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3B4F-BAF7-4208-AA2E-2D4ECFDD9047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B3A46-8515-6CC3-0813-B9CA3064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DBE69-FE06-C279-7AD6-B9782FBD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BD6B-ED9E-4166-9E18-CB679A5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6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A9F0CD-B14B-025A-C594-A3E4E8FD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E5B1A-36EC-F04C-F27B-132621270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B6F0D-4A28-B6C3-1E03-4EB4CBCF7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33B4F-BAF7-4208-AA2E-2D4ECFDD9047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0F104-3144-7DB7-8DE1-F52A056DC2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54C24-37A9-D1B7-E003-F8C1417CE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53BD6B-ED9E-4166-9E18-CB679A575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7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E956-42F9-5072-80C3-CC00923F8B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Are Electric Vehicles a Viable Replacement for Gas Powered Vehicles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43B93-7886-6165-78D4-E75BC2969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>
            <a:normAutofit fontScale="77500" lnSpcReduction="20000"/>
          </a:bodyPr>
          <a:lstStyle/>
          <a:p>
            <a:pPr marL="0" marR="0" algn="ctr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Ryan Frank</a:t>
            </a:r>
          </a:p>
          <a:p>
            <a:pPr marL="0" marR="0" algn="ctr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Bellevue University</a:t>
            </a:r>
          </a:p>
          <a:p>
            <a:pPr marL="0" marR="0" algn="ctr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DSC500-304: Introduction to Data Science</a:t>
            </a:r>
          </a:p>
          <a:p>
            <a:pPr marL="0" marR="0" algn="ctr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Professor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Fadi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Alsaleem</a:t>
            </a: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ctr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10/29/2023</a:t>
            </a:r>
          </a:p>
        </p:txBody>
      </p:sp>
    </p:spTree>
    <p:extLst>
      <p:ext uri="{BB962C8B-B14F-4D97-AF65-F5344CB8AC3E}">
        <p14:creationId xmlns:p14="http://schemas.microsoft.com/office/powerpoint/2010/main" val="365116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0A0A-1A94-AFA9-E364-9BB3F01C3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1598C-0618-2EA1-8C79-446A9FD45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6311"/>
            <a:ext cx="10515600" cy="392065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What are the costs to construct EVs?</a:t>
            </a:r>
          </a:p>
          <a:p>
            <a:pPr>
              <a:lnSpc>
                <a:spcPct val="150000"/>
              </a:lnSpc>
            </a:pPr>
            <a:r>
              <a:rPr lang="en-US" dirty="0"/>
              <a:t>What are the ownership costs for EVs vs traditional cars</a:t>
            </a:r>
          </a:p>
          <a:p>
            <a:pPr>
              <a:lnSpc>
                <a:spcPct val="150000"/>
              </a:lnSpc>
            </a:pPr>
            <a:r>
              <a:rPr lang="en-US" dirty="0"/>
              <a:t>Can the production scale?</a:t>
            </a:r>
          </a:p>
          <a:p>
            <a:pPr>
              <a:lnSpc>
                <a:spcPct val="150000"/>
              </a:lnSpc>
            </a:pPr>
            <a:r>
              <a:rPr lang="en-US" dirty="0"/>
              <a:t>What are the environmental costs?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800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0A0A-1A94-AFA9-E364-9BB3F01C3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Cost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F0ED75-3713-5A74-13CA-01B9BF4B9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58204"/>
            <a:ext cx="10515600" cy="40087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17028A-6768-75C2-FE03-5534D0CB9A00}"/>
              </a:ext>
            </a:extLst>
          </p:cNvPr>
          <p:cNvSpPr txBox="1"/>
          <p:nvPr/>
        </p:nvSpPr>
        <p:spPr>
          <a:xfrm>
            <a:off x="838200" y="5708276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EV’s raw material cost is approximately double that of traditional vehicles  </a:t>
            </a:r>
          </a:p>
        </p:txBody>
      </p:sp>
    </p:spTree>
    <p:extLst>
      <p:ext uri="{BB962C8B-B14F-4D97-AF65-F5344CB8AC3E}">
        <p14:creationId xmlns:p14="http://schemas.microsoft.com/office/powerpoint/2010/main" val="3177863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31FF9-F3AA-B92A-BC86-631DFC782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105F-6E9B-07A4-ADA8-EFFF548A0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classes of vehicles cost about $10,000 more for an EV</a:t>
            </a:r>
          </a:p>
          <a:p>
            <a:r>
              <a:rPr lang="en-US" dirty="0"/>
              <a:t>Cost of Operation</a:t>
            </a:r>
          </a:p>
          <a:p>
            <a:pPr marL="0" indent="0">
              <a:buNone/>
            </a:pPr>
            <a:r>
              <a:rPr lang="en-US" dirty="0"/>
              <a:t>                                 EV                                                         ICE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Cost doesn’t equalize until 125,000 mile driven on average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A3EC9D-6827-5564-A7D4-F19CF40E2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656" y="3429000"/>
            <a:ext cx="2018179" cy="13414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C02CB9-3E8A-4678-E557-D0E5F1360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446" y="3330546"/>
            <a:ext cx="2018179" cy="13414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B54C69-B2BA-7F4F-DC29-0CD800B61614}"/>
              </a:ext>
            </a:extLst>
          </p:cNvPr>
          <p:cNvSpPr txBox="1"/>
          <p:nvPr/>
        </p:nvSpPr>
        <p:spPr>
          <a:xfrm>
            <a:off x="3045759" y="4565276"/>
            <a:ext cx="158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5.4 ¢ / mile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48529-BE85-959B-5150-E103890019EE}"/>
              </a:ext>
            </a:extLst>
          </p:cNvPr>
          <p:cNvSpPr txBox="1"/>
          <p:nvPr/>
        </p:nvSpPr>
        <p:spPr>
          <a:xfrm>
            <a:off x="8075520" y="4533010"/>
            <a:ext cx="158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13.4 ¢ / mile</a:t>
            </a:r>
          </a:p>
        </p:txBody>
      </p:sp>
    </p:spTree>
    <p:extLst>
      <p:ext uri="{BB962C8B-B14F-4D97-AF65-F5344CB8AC3E}">
        <p14:creationId xmlns:p14="http://schemas.microsoft.com/office/powerpoint/2010/main" val="4025864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630B-FC00-1D54-AB0F-2AD247252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8E88-0C42-A0B1-B933-235B041BF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Lithium is one of the biggest limiting materials with scaling up the production of EVs as all batteries require it (on average each EV needs 8 kg)</a:t>
            </a:r>
          </a:p>
          <a:p>
            <a:r>
              <a:rPr lang="en-US" dirty="0"/>
              <a:t>Last year 130,000 Metric Tons of lithium was mined</a:t>
            </a:r>
          </a:p>
          <a:p>
            <a:r>
              <a:rPr lang="en-US" dirty="0"/>
              <a:t>To replace 25% of all cars with EV’s worldwide would require approximately 1,300,000 Metrics Tons of lithium</a:t>
            </a:r>
          </a:p>
          <a:p>
            <a:r>
              <a:rPr lang="en-US" dirty="0"/>
              <a:t>Other materials (</a:t>
            </a:r>
            <a:r>
              <a:rPr lang="de-DE" dirty="0"/>
              <a:t>nickel, cobalt, manganese, and graphite) have similar concerns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519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19AAF-D6E7-D827-6614-B56B7E247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Pollution Production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FCA79C-03CB-10D6-90AA-67E51DA23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3784" y="1436171"/>
            <a:ext cx="5944431" cy="245299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CA9D57-1371-DB60-03DC-D6AE9098756C}"/>
              </a:ext>
            </a:extLst>
          </p:cNvPr>
          <p:cNvSpPr txBox="1"/>
          <p:nvPr/>
        </p:nvSpPr>
        <p:spPr>
          <a:xfrm>
            <a:off x="1003465" y="4334493"/>
            <a:ext cx="103503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EVs produce significantly less 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CO</a:t>
            </a:r>
            <a:r>
              <a:rPr lang="en-US" sz="1800" baseline="-250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on average per mile traveled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Based on average pollution produced by power needed to charge EV to travel a mile vs that directly produced by a car with an internal combustion 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More difficult to quantify, but EV’s require large amounts of rare earth metals that traditional </a:t>
            </a:r>
            <a:r>
              <a:rPr lang="en-US" dirty="0" err="1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vechiles</a:t>
            </a:r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do not – extraction of these materials often causes heavy local pollution, especially water pollution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518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D30D9-1794-A4AF-BEE6-654814C1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2643C-3AD9-56AE-0F00-187E846FF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of EV’s would represent significant reductions in greenhouse gas production by vehicles</a:t>
            </a:r>
          </a:p>
          <a:p>
            <a:r>
              <a:rPr lang="en-US" dirty="0"/>
              <a:t>Technology needs more time to mature before large scale replacement is feasible</a:t>
            </a:r>
          </a:p>
          <a:p>
            <a:r>
              <a:rPr lang="en-US" dirty="0"/>
              <a:t>Reductions in cost, material use, and battery technology will make it more attractive</a:t>
            </a:r>
          </a:p>
        </p:txBody>
      </p:sp>
    </p:spTree>
    <p:extLst>
      <p:ext uri="{BB962C8B-B14F-4D97-AF65-F5344CB8AC3E}">
        <p14:creationId xmlns:p14="http://schemas.microsoft.com/office/powerpoint/2010/main" val="1195473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6D7D112D401D40935AB786F5423553" ma:contentTypeVersion="3" ma:contentTypeDescription="Create a new document." ma:contentTypeScope="" ma:versionID="7b1352ca635f25edb8b0cd3e6c25598c">
  <xsd:schema xmlns:xsd="http://www.w3.org/2001/XMLSchema" xmlns:xs="http://www.w3.org/2001/XMLSchema" xmlns:p="http://schemas.microsoft.com/office/2006/metadata/properties" xmlns:ns3="4acaa3ca-f9f3-4489-ad9f-6155c2a2d7d4" targetNamespace="http://schemas.microsoft.com/office/2006/metadata/properties" ma:root="true" ma:fieldsID="877ae57a425ac6e6512c16075a558462" ns3:_="">
    <xsd:import namespace="4acaa3ca-f9f3-4489-ad9f-6155c2a2d7d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caa3ca-f9f3-4489-ad9f-6155c2a2d7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D58EDE5-77F8-4EB9-8047-662C9BC275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caa3ca-f9f3-4489-ad9f-6155c2a2d7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42B409-6A20-4B8C-B1FA-62E97F3C7E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36E929-DE4C-416A-8D48-51254C8615F4}">
  <ds:schemaRefs>
    <ds:schemaRef ds:uri="http://purl.org/dc/dcmitype/"/>
    <ds:schemaRef ds:uri="4acaa3ca-f9f3-4489-ad9f-6155c2a2d7d4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289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Are Electric Vehicles a Viable Replacement for Gas Powered Vehicles</vt:lpstr>
      <vt:lpstr>Questions</vt:lpstr>
      <vt:lpstr>Construction Cost</vt:lpstr>
      <vt:lpstr>Consumer Cost</vt:lpstr>
      <vt:lpstr>Scalability</vt:lpstr>
      <vt:lpstr>Pollution Production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 Electric Vehicles a Viable Replacement for Gas Powered Vehicles</dc:title>
  <dc:creator>Ryan Frank</dc:creator>
  <cp:lastModifiedBy>Ryan Frank</cp:lastModifiedBy>
  <cp:revision>2</cp:revision>
  <dcterms:created xsi:type="dcterms:W3CDTF">2023-10-29T23:33:57Z</dcterms:created>
  <dcterms:modified xsi:type="dcterms:W3CDTF">2023-10-30T01:53:49Z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0x0101000F6D7D112D401D40935AB786F5423553</vt:lpwstr>
  </property>
</Properties>
</file>